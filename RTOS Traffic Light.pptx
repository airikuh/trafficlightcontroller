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530" r:id="rId5"/>
    <p:sldId id="531" r:id="rId6"/>
    <p:sldId id="533" r:id="rId7"/>
    <p:sldId id="548" r:id="rId8"/>
    <p:sldId id="549" r:id="rId9"/>
    <p:sldId id="550" r:id="rId10"/>
    <p:sldId id="551" r:id="rId11"/>
    <p:sldId id="552" r:id="rId12"/>
    <p:sldId id="534" r:id="rId13"/>
    <p:sldId id="556" r:id="rId14"/>
    <p:sldId id="554" r:id="rId15"/>
    <p:sldId id="559" r:id="rId16"/>
    <p:sldId id="563" r:id="rId17"/>
    <p:sldId id="566" r:id="rId18"/>
    <p:sldId id="562" r:id="rId19"/>
    <p:sldId id="573" r:id="rId20"/>
    <p:sldId id="571" r:id="rId21"/>
    <p:sldId id="570" r:id="rId22"/>
    <p:sldId id="568" r:id="rId23"/>
    <p:sldId id="569" r:id="rId24"/>
    <p:sldId id="567" r:id="rId25"/>
    <p:sldId id="572" r:id="rId26"/>
    <p:sldId id="539" r:id="rId27"/>
    <p:sldId id="543" r:id="rId28"/>
    <p:sldId id="574" r:id="rId29"/>
    <p:sldId id="575" r:id="rId30"/>
    <p:sldId id="544" r:id="rId31"/>
    <p:sldId id="5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EF24F5C6-12A7-7BA4-183E-74BB8C55C553}" name="Atari, Kevin" initials="AK" userId="S::katari@umich.edu::00095623-3113-4b64-b03e-2e926db3b06b" providerId="AD"/>
  <p188:author id="{1C5EBBCC-8E12-B598-9DDC-66D06BEF0B3D}" name="Valle-Baird, Erika" initials="EV" userId="S::airikuh@umich.edu::d4bdac7d-8273-4083-b40a-9fa31fbc4ec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07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67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77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26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32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70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90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77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91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91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17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DC64D-2D4D-069F-6E20-50FF867F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1623D-0647-D70B-4270-80E48F456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1FE3A-621C-FB95-DA9C-E1FFEAFAE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D9B6-1D4D-5B5B-9B4F-6BE1DC1B1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1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7A44-8222-8AFB-0734-0BF4FCDF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54BEC-A4DC-CA01-49E8-1CE5873D7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4520C-48BA-A3DA-0EF3-C4740D2D4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ADB7F-5A28-052D-EB80-950D85B60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95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47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04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528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Gantt chart outlines the project timeline and how we structured our development process.</a:t>
            </a:r>
          </a:p>
          <a:p>
            <a:r>
              <a:rPr lang="en-US"/>
              <a:t>We followed a waterfall-style approach, progressing through phases like requirements, design, implementation, testing, and documentation.</a:t>
            </a:r>
          </a:p>
          <a:p>
            <a:r>
              <a:rPr lang="en-US"/>
              <a:t>Each phase had clearly defined tasks and timelines, allowing us to stay organized and ensure steady progress throughout the project.</a:t>
            </a:r>
          </a:p>
          <a:p>
            <a:r>
              <a:rPr lang="en-US"/>
              <a:t>Overall, this helped us manage workload, track milestones, and complete the project in a structured and predictable manner.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82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procs.2025.09.510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7sQMiFTz9Q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Rtos traffic light: prioritizing emergency vehicles and pedestrians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1844" y="4231286"/>
            <a:ext cx="7068312" cy="758952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lang="en-US" b="1" u="sng"/>
              <a:t>Team Members:</a:t>
            </a:r>
            <a:endParaRPr lang="en-US"/>
          </a:p>
          <a:p>
            <a:pPr lvl="1" algn="l">
              <a:spcAft>
                <a:spcPts val="600"/>
              </a:spcAft>
            </a:pPr>
            <a:r>
              <a:rPr lang="en-US"/>
              <a:t>Jacob Wald</a:t>
            </a:r>
          </a:p>
          <a:p>
            <a:pPr lvl="1" algn="l"/>
            <a:r>
              <a:rPr lang="en-US"/>
              <a:t>Erika Valle-Baird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292608"/>
            <a:ext cx="8878824" cy="1069848"/>
          </a:xfrm>
        </p:spPr>
        <p:txBody>
          <a:bodyPr>
            <a:normAutofit/>
          </a:bodyPr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331" y="1362456"/>
            <a:ext cx="6422136" cy="3282696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Concept</a:t>
            </a:r>
            <a:endParaRPr lang="en-US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Requirements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Design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Testing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Implementation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Documentation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C1F83-A644-D37C-8E3E-DF9849B26503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852" y="400206"/>
            <a:ext cx="8878824" cy="793582"/>
          </a:xfrm>
        </p:spPr>
        <p:txBody>
          <a:bodyPr/>
          <a:lstStyle/>
          <a:p>
            <a:r>
              <a:rPr lang="en-US"/>
              <a:t>CONCEPT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7031D-4BF8-B47D-DBBA-6AC129DDD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Prioritizes</a:t>
            </a:r>
            <a:r>
              <a:rPr lang="en-US"/>
              <a:t>:</a:t>
            </a:r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44A6D-5163-C6DA-0CA3-72C199DFAA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Emergency Vehicle Preemption </a:t>
            </a:r>
          </a:p>
          <a:p>
            <a:r>
              <a:rPr lang="en-US"/>
              <a:t>Pedestrian Safety </a:t>
            </a:r>
          </a:p>
          <a:p>
            <a:r>
              <a:rPr lang="en-US"/>
              <a:t>Conflict-Free Signal Transitions</a:t>
            </a:r>
          </a:p>
          <a:p>
            <a:r>
              <a:rPr lang="en-US"/>
              <a:t>Deterministic Timing &amp; Scheduling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C70073-16E1-609F-7A5C-5F1807DD1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i="1"/>
              <a:t>Key Advantages</a:t>
            </a:r>
            <a:r>
              <a:rPr lang="en-US" i="1" u="sng"/>
              <a:t>: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85E757-F9F7-90BC-8469-6AF35C7E373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Low cost</a:t>
            </a:r>
          </a:p>
          <a:p>
            <a:r>
              <a:rPr lang="en-US"/>
              <a:t>Low complexity</a:t>
            </a:r>
          </a:p>
          <a:p>
            <a:r>
              <a:rPr lang="en-US"/>
              <a:t>No AI / Cloud dependency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DA653-1401-D409-67D9-78929CE86FB6}"/>
              </a:ext>
            </a:extLst>
          </p:cNvPr>
          <p:cNvSpPr txBox="1"/>
          <p:nvPr/>
        </p:nvSpPr>
        <p:spPr>
          <a:xfrm>
            <a:off x="642863" y="1130240"/>
            <a:ext cx="6312409" cy="65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en-US" sz="2800" b="1">
                <a:solidFill>
                  <a:schemeClr val="bg1"/>
                </a:solidFill>
              </a:rPr>
              <a:t>RTOS-Based Traffic Light Controller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4BCA5B3-01A5-4F36-41AD-8D354EC465DF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33510-42F3-0B32-79B2-46FA9963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D3AD-67FF-48BD-F10E-BBA6DAC9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7452"/>
            <a:ext cx="10881360" cy="1069848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Concept- Stakeholders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C73F2-1FE5-C5B2-293C-63603C4281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355CE-A8D1-9B9B-64E2-7804E8709A78}"/>
              </a:ext>
            </a:extLst>
          </p:cNvPr>
          <p:cNvSpPr txBox="1"/>
          <p:nvPr/>
        </p:nvSpPr>
        <p:spPr>
          <a:xfrm>
            <a:off x="1162050" y="1605684"/>
            <a:ext cx="6096000" cy="211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800" i="1" u="sng">
                <a:solidFill>
                  <a:schemeClr val="bg1"/>
                </a:solidFill>
              </a:rPr>
              <a:t>Stakeholder Groups: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Low-Resource Cities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Developers &amp; Researchers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Smart City Planners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Emergency Response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68118-007D-BC08-1695-0472F39348F1}"/>
              </a:ext>
            </a:extLst>
          </p:cNvPr>
          <p:cNvSpPr txBox="1"/>
          <p:nvPr/>
        </p:nvSpPr>
        <p:spPr>
          <a:xfrm>
            <a:off x="5267325" y="3220922"/>
            <a:ext cx="6096000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800" i="1" u="sng">
                <a:solidFill>
                  <a:schemeClr val="bg1"/>
                </a:solidFill>
              </a:rPr>
              <a:t>Unique About Our Project-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Low-Cost Embedded Solution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Deployable Without Smart Infrastructure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</a:rPr>
              <a:t>Deterministic &amp; Safety-Critical Design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7A4A21A-4053-ADD3-B46E-F073853DBB04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236854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E36F-985B-82ED-605A-A0792B40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FCB3-61F1-E18A-6495-44E1D4D9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7452"/>
            <a:ext cx="10881360" cy="1069848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Concept- Feasibility Study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3BDEC-5F22-880F-75C0-4CCA2716F4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B92982C-A0D7-A0E3-9903-6CEE2A687910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9ADAF-4445-0268-E239-B16F34D351DA}"/>
              </a:ext>
            </a:extLst>
          </p:cNvPr>
          <p:cNvSpPr txBox="1"/>
          <p:nvPr/>
        </p:nvSpPr>
        <p:spPr>
          <a:xfrm>
            <a:off x="588042" y="1379910"/>
            <a:ext cx="10433396" cy="33647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u="sng">
                <a:solidFill>
                  <a:schemeClr val="bg1"/>
                </a:solidFill>
                <a:cs typeface="Segoe UI Light"/>
              </a:rPr>
              <a:t>City Infrastructure/Use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cs typeface="Segoe UI Light"/>
              </a:rPr>
              <a:t>Rapidly growing cities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cs typeface="Segoe UI Light"/>
              </a:rPr>
              <a:t>High instances of traffic accidents: drivers are not paying attention to emergency response vehicles and pedestrians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cs typeface="Segoe UI Light"/>
              </a:rPr>
              <a:t>Emergency response vehicles proceed through red lights increasing accident risks</a:t>
            </a:r>
          </a:p>
          <a:p>
            <a:pPr lvl="2">
              <a:lnSpc>
                <a:spcPct val="150000"/>
              </a:lnSpc>
            </a:pPr>
            <a:endParaRPr lang="en-US">
              <a:solidFill>
                <a:schemeClr val="bg1"/>
              </a:solidFill>
              <a:cs typeface="Segoe UI Light"/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u="sng">
                <a:solidFill>
                  <a:schemeClr val="bg1"/>
                </a:solidFill>
                <a:cs typeface="Segoe UI Light"/>
              </a:rPr>
              <a:t>Feasible solution: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cs typeface="Segoe UI Light"/>
              </a:rPr>
              <a:t>Change lights based on emergency response and pedestrian needs</a:t>
            </a:r>
          </a:p>
        </p:txBody>
      </p:sp>
    </p:spTree>
    <p:extLst>
      <p:ext uri="{BB962C8B-B14F-4D97-AF65-F5344CB8AC3E}">
        <p14:creationId xmlns:p14="http://schemas.microsoft.com/office/powerpoint/2010/main" val="379583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47B3-9FF9-8DC4-B2AD-1739D2CD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ECAF-2158-E659-E62A-30CBC5E9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7452"/>
            <a:ext cx="10881360" cy="1069848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Concept- Literature survey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5118E-6CE5-44D4-A104-BA528AE865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1AA96-DBCF-9F31-B4DC-6B50BE43D4A3}"/>
              </a:ext>
            </a:extLst>
          </p:cNvPr>
          <p:cNvSpPr txBox="1"/>
          <p:nvPr/>
        </p:nvSpPr>
        <p:spPr>
          <a:xfrm>
            <a:off x="49630" y="1254110"/>
            <a:ext cx="5484396" cy="42726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en-US" i="1" u="sng">
                <a:solidFill>
                  <a:schemeClr val="bg1"/>
                </a:solidFill>
                <a:cs typeface="Segoe UI Light"/>
              </a:rPr>
              <a:t>Research highlights newer Smart Cities:</a:t>
            </a:r>
            <a:endParaRPr lang="en-US" i="1" u="sng"/>
          </a:p>
          <a:p>
            <a:pPr marL="1657350" lvl="3" indent="-285750">
              <a:lnSpc>
                <a:spcPct val="150000"/>
              </a:lnSpc>
              <a:buFont typeface="Arial" panose="02070309020205020404" pitchFamily="49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Smart Cities are outfitted with expensive technology helping to mitigate accident rates</a:t>
            </a:r>
          </a:p>
          <a:p>
            <a:pPr lvl="3">
              <a:lnSpc>
                <a:spcPct val="150000"/>
              </a:lnSpc>
            </a:pPr>
            <a:endParaRPr lang="en-US">
              <a:solidFill>
                <a:schemeClr val="bg1"/>
              </a:solidFill>
              <a:cs typeface="Segoe UI Light"/>
            </a:endParaRPr>
          </a:p>
          <a:p>
            <a:pPr marL="1657350" lvl="3" indent="-285750">
              <a:lnSpc>
                <a:spcPct val="150000"/>
              </a:lnSpc>
              <a:buFont typeface="Arial" panose="02070309020205020404" pitchFamily="49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Studies show many cities cannot afford to implement this technology</a:t>
            </a:r>
          </a:p>
          <a:p>
            <a:pPr lvl="3">
              <a:lnSpc>
                <a:spcPct val="150000"/>
              </a:lnSpc>
            </a:pPr>
            <a:endParaRPr lang="en-US">
              <a:solidFill>
                <a:schemeClr val="bg1"/>
              </a:solidFill>
              <a:cs typeface="Segoe UI Light"/>
            </a:endParaRPr>
          </a:p>
          <a:p>
            <a:pPr marL="1657350" lvl="3" indent="-285750">
              <a:lnSpc>
                <a:spcPct val="150000"/>
              </a:lnSpc>
              <a:buFont typeface="Arial" panose="02070309020205020404" pitchFamily="49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Use of LiDAR for traffic lights can easily be hacked.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234AE6F-38F4-BEE7-7925-07066F7864C2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7795B-500C-FF9E-C839-80461F92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6" y="1801137"/>
            <a:ext cx="6027127" cy="3255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3EB02C-FF3E-34C1-4828-9FF7D17B8617}"/>
              </a:ext>
            </a:extLst>
          </p:cNvPr>
          <p:cNvSpPr txBox="1"/>
          <p:nvPr/>
        </p:nvSpPr>
        <p:spPr>
          <a:xfrm>
            <a:off x="6500910" y="5188200"/>
            <a:ext cx="4263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cs typeface="Segoe UI Light"/>
              </a:rPr>
              <a:t>Figure 1: Intelligent Traffic Light Controller Concept</a:t>
            </a:r>
            <a:br>
              <a:rPr lang="en-US" sz="1400">
                <a:solidFill>
                  <a:schemeClr val="bg1"/>
                </a:solidFill>
                <a:cs typeface="Segoe UI Light"/>
              </a:rPr>
            </a:br>
            <a:r>
              <a:rPr lang="en-US" sz="1400">
                <a:solidFill>
                  <a:schemeClr val="bg1"/>
                </a:solidFill>
                <a:cs typeface="Segoe UI Light"/>
              </a:rPr>
              <a:t>Source: Adapted from [4] 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7065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6FC0-872A-89ED-10E1-FD330ED3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8B34-9282-F4AE-34A5-F4EE18A2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9D3583-51D7-9E18-B5C5-36149514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15A6B-AD54-5808-F236-3EE72068F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/>
              <a:t>Functional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6FD4E-9493-ECEA-130F-FD0E6D85B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998846" cy="25786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Segoe UI"/>
              </a:rPr>
              <a:t>Timing &amp; Sequencing Functionality</a:t>
            </a:r>
          </a:p>
          <a:p>
            <a:r>
              <a:rPr lang="en-US">
                <a:cs typeface="Segoe UI"/>
              </a:rPr>
              <a:t>Pedestrian-Specific </a:t>
            </a:r>
            <a:endParaRPr lang="en-US"/>
          </a:p>
          <a:p>
            <a:r>
              <a:rPr lang="en-US"/>
              <a:t>Emergency Vehicle Handling</a:t>
            </a:r>
          </a:p>
          <a:p>
            <a:r>
              <a:rPr lang="en-US"/>
              <a:t>Normal Vehicle Handling</a:t>
            </a:r>
          </a:p>
          <a:p>
            <a:r>
              <a:rPr lang="en-US"/>
              <a:t>Display &amp; Feedback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70661-2CF2-63C0-5E7F-39A59311E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3369" y="2185416"/>
            <a:ext cx="3621024" cy="493776"/>
          </a:xfrm>
        </p:spPr>
        <p:txBody>
          <a:bodyPr/>
          <a:lstStyle/>
          <a:p>
            <a:r>
              <a:rPr lang="en-US" u="sng"/>
              <a:t>Non-Functional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6674C-BC5B-6483-7815-7AB41AC3B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3369" y="2743200"/>
            <a:ext cx="3621024" cy="25786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Segoe UI"/>
              </a:rPr>
              <a:t>Reliability</a:t>
            </a:r>
          </a:p>
          <a:p>
            <a:r>
              <a:rPr lang="en-US">
                <a:cs typeface="Segoe UI"/>
              </a:rPr>
              <a:t>Usability</a:t>
            </a:r>
          </a:p>
          <a:p>
            <a:r>
              <a:rPr lang="en-US">
                <a:cs typeface="Segoe UI"/>
              </a:rPr>
              <a:t>Modularity</a:t>
            </a:r>
          </a:p>
          <a:p>
            <a:r>
              <a:rPr lang="en-US">
                <a:cs typeface="Segoe UI"/>
              </a:rPr>
              <a:t>Performance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F7FD859-5428-2DE8-E9C8-22AE4A2E6CC4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34656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AC53-39FC-6625-C702-5D40F618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7259-EDBB-579F-94AB-53534CD7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7452"/>
            <a:ext cx="10881360" cy="1069848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Requirements- objective &amp; need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4EC71-3F1B-E99C-A923-CE07A6C06C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223EA-3962-7845-D564-D79E0FF757A2}"/>
              </a:ext>
            </a:extLst>
          </p:cNvPr>
          <p:cNvSpPr txBox="1"/>
          <p:nvPr/>
        </p:nvSpPr>
        <p:spPr>
          <a:xfrm>
            <a:off x="981074" y="1476286"/>
            <a:ext cx="9039225" cy="2533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i="1" u="sng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System Objective:</a:t>
            </a:r>
            <a:endParaRPr lang="en-US" sz="1800" b="1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Simulate an RTOS-based traffic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Dynamically respond to: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Emergency vehicles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Pedestrian requests</a:t>
            </a:r>
            <a:endParaRPr lang="en-US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Enforce safe, deterministic signal behavior</a:t>
            </a:r>
            <a:endParaRPr lang="en-US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BFDC3-F24D-0ADD-502E-7BF423414EA4}"/>
              </a:ext>
            </a:extLst>
          </p:cNvPr>
          <p:cNvSpPr txBox="1"/>
          <p:nvPr/>
        </p:nvSpPr>
        <p:spPr>
          <a:xfrm>
            <a:off x="1062037" y="4228979"/>
            <a:ext cx="10067926" cy="211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i="1" u="sng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Industry Need: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Reliable emergency vehicle prioritization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Safe pedestrian crossing in all conditions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Affordable alternatives to smart-city infrastructure</a:t>
            </a:r>
          </a:p>
          <a:p>
            <a:pPr lvl="1">
              <a:lnSpc>
                <a:spcPct val="150000"/>
              </a:lnSpc>
            </a:pPr>
            <a:endParaRPr lang="en-US" u="none" strike="noStrike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07DA-0087-3821-BC37-D45E2D9CB948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77067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design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081DE8-7E2C-E2D9-BDBE-A64386C59199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3014-A17A-F0E7-954E-7FFF06E0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43AE-F091-D9E2-E7A5-BEC38880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567" y="50292"/>
            <a:ext cx="8575710" cy="678310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Design- Use-Case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A478B-7072-1095-C7C7-4016E6B65E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35281-851F-1C87-AC77-D9E53C25C2A8}"/>
              </a:ext>
            </a:extLst>
          </p:cNvPr>
          <p:cNvSpPr txBox="1">
            <a:spLocks/>
          </p:cNvSpPr>
          <p:nvPr/>
        </p:nvSpPr>
        <p:spPr>
          <a:xfrm>
            <a:off x="-399418" y="6533388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6F0BFB-D37E-29FA-5909-87104FE2D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36" y="643231"/>
            <a:ext cx="5465777" cy="616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2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DA2F-DF09-9176-0F28-EE87AF32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A1A1-AEEE-6964-E9EF-E7E26FD9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2" y="108908"/>
            <a:ext cx="9529897" cy="6051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1" kern="1200" cap="all" spc="600" baseline="0">
                <a:ln w="28575">
                  <a:noFill/>
                  <a:prstDash val="solid"/>
                </a:ln>
              </a:rPr>
              <a:t>Design- Entity relationship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B12C5-194F-1767-B06D-11879512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9184" y="411480"/>
            <a:ext cx="521208" cy="3108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20A33B-BF52-D401-FF4C-32DF6B8D9656}"/>
              </a:ext>
            </a:extLst>
          </p:cNvPr>
          <p:cNvSpPr txBox="1">
            <a:spLocks/>
          </p:cNvSpPr>
          <p:nvPr/>
        </p:nvSpPr>
        <p:spPr>
          <a:xfrm>
            <a:off x="-379963" y="6583680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49B43-31A7-F77B-1079-3DDD31415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492" y="612842"/>
            <a:ext cx="6597847" cy="61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95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1412-5492-C87C-2AC3-E42ABF83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AF68-1E24-EA7E-6C52-C073A894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Testing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48833-BC50-ACBA-E0C7-D022F96B4285}"/>
              </a:ext>
            </a:extLst>
          </p:cNvPr>
          <p:cNvSpPr txBox="1"/>
          <p:nvPr/>
        </p:nvSpPr>
        <p:spPr>
          <a:xfrm>
            <a:off x="7170202" y="3429000"/>
            <a:ext cx="4140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>
                <a:solidFill>
                  <a:schemeClr val="bg1"/>
                </a:solidFill>
              </a:rPr>
              <a:t>Black-Box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>
                <a:solidFill>
                  <a:schemeClr val="bg1"/>
                </a:solidFill>
              </a:rPr>
              <a:t>White-Box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>
                <a:solidFill>
                  <a:schemeClr val="bg1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1516517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DCA9-7938-53F5-29F7-C2B2B2C80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B1657A52-04EC-6455-3B93-E27066A1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39" y="1005525"/>
            <a:ext cx="11198772" cy="1069848"/>
          </a:xfrm>
        </p:spPr>
        <p:txBody>
          <a:bodyPr/>
          <a:lstStyle/>
          <a:p>
            <a:r>
              <a:rPr lang="en-US"/>
              <a:t>TYPES OF Testing- Functional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53DB6-1E7D-ED2C-3FCC-EABCD8E74E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Timing &amp; Sequence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678F0-272A-EF1C-E018-E54BA76AFD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Test and confirm correct order of light phases, durations, and sequences.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ECD04A-1D14-144D-7969-DEE5742A85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Pedestrian-Specific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C389A9-0049-E475-9ECC-59DC9A28F1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Test and confirm pedestrian button press triggers correct controller WALK phase.</a:t>
            </a:r>
          </a:p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9CB124-43F1-BB26-0CE1-46C1BAEBC8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Emergency Vehicle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82BEF3-F625-8038-3804-26A81AED82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Test and confirm light changes in response to sensed emergency vehicle.</a:t>
            </a: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66912C-31F6-9D08-9027-9261425CBB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Normal Vehicle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2465E0-62A3-B717-E429-09C62AFC7C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Test and confirm intersection clearance and stop rules. </a:t>
            </a:r>
          </a:p>
          <a:p>
            <a:endParaRPr lang="en-US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6923EC70-8527-EF3C-0748-B77E85689F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Display &amp; Feedback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3DFA02-21D3-37FC-76FA-B1E8CCBEE6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Test and confirm user interface visuals occur when simulation begins running.</a:t>
            </a:r>
          </a:p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AE61F2-4998-3C93-0CAC-71B8E7AB44F0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98713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CF98-6AA5-AEDD-5A60-F13090BA9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C9248B6B-E8BF-5853-457A-8138555F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39" y="1005525"/>
            <a:ext cx="11198772" cy="1069848"/>
          </a:xfrm>
        </p:spPr>
        <p:txBody>
          <a:bodyPr/>
          <a:lstStyle/>
          <a:p>
            <a:r>
              <a:rPr lang="en-US"/>
              <a:t>TYPES OF Testing- Non-functional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E6083-FA8D-D8DA-7B3A-5B3AE35D0E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76405" y="2448841"/>
            <a:ext cx="2098157" cy="702770"/>
          </a:xfrm>
        </p:spPr>
        <p:txBody>
          <a:bodyPr/>
          <a:lstStyle/>
          <a:p>
            <a:r>
              <a:rPr lang="en-US"/>
              <a:t>Reliability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CEB2F-7A56-07E6-28EF-36B8F776B8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0586" y="3227098"/>
            <a:ext cx="2093976" cy="1856232"/>
          </a:xfrm>
        </p:spPr>
        <p:txBody>
          <a:bodyPr/>
          <a:lstStyle/>
          <a:p>
            <a:r>
              <a:rPr lang="en-US"/>
              <a:t>Test that simulated traffic produces a consistent and deterministic result.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09F2FD-96AB-678F-826D-82673B8EF7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093" y="2448841"/>
            <a:ext cx="2103120" cy="704088"/>
          </a:xfrm>
        </p:spPr>
        <p:txBody>
          <a:bodyPr/>
          <a:lstStyle/>
          <a:p>
            <a:r>
              <a:rPr lang="en-US"/>
              <a:t>Usability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820635-10C3-501D-F552-B918A36C7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44665" y="3207793"/>
            <a:ext cx="2093976" cy="1856232"/>
          </a:xfrm>
        </p:spPr>
        <p:txBody>
          <a:bodyPr/>
          <a:lstStyle/>
          <a:p>
            <a:r>
              <a:rPr lang="en-US"/>
              <a:t>Test that system functions in Windows and/or Linux operating environment.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3EDC-33A7-5E00-139B-F1737E8A51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02649" y="2448841"/>
            <a:ext cx="2103120" cy="704088"/>
          </a:xfrm>
        </p:spPr>
        <p:txBody>
          <a:bodyPr/>
          <a:lstStyle/>
          <a:p>
            <a:r>
              <a:rPr lang="en-US"/>
              <a:t>Modularity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035E11-E77C-ED00-CF4D-7666789741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4935" y="3207793"/>
            <a:ext cx="2093976" cy="1856232"/>
          </a:xfrm>
        </p:spPr>
        <p:txBody>
          <a:bodyPr/>
          <a:lstStyle/>
          <a:p>
            <a:r>
              <a:rPr lang="en-US"/>
              <a:t>Test that system has clearly separated components. 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D7B995A4-49FA-071C-226E-4616D8DFC0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65205" y="2448842"/>
            <a:ext cx="2098157" cy="702769"/>
          </a:xfrm>
        </p:spPr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9AEAE1-110B-5E0C-EB58-2228480E83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65205" y="3207793"/>
            <a:ext cx="2093976" cy="1856232"/>
          </a:xfrm>
        </p:spPr>
        <p:txBody>
          <a:bodyPr/>
          <a:lstStyle/>
          <a:p>
            <a:r>
              <a:rPr lang="en-US"/>
              <a:t>Test traffic light changes occur within specified time parameters.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CCC395-9762-59C0-3FE4-BA6B7D03DD56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310735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04F5-BEE7-67D6-9AB1-C59510F8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782B-249F-D260-CF5D-B03CFACC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106" y="160698"/>
            <a:ext cx="8878824" cy="802340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B87CC3-A7B6-D234-EB1F-B827E272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A9107-7EFF-E3C4-0422-B02B8F31C636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F9932-3AA8-85E2-ECA3-D23CD63B00D0}"/>
              </a:ext>
            </a:extLst>
          </p:cNvPr>
          <p:cNvSpPr txBox="1">
            <a:spLocks/>
          </p:cNvSpPr>
          <p:nvPr/>
        </p:nvSpPr>
        <p:spPr>
          <a:xfrm>
            <a:off x="5258835" y="4696292"/>
            <a:ext cx="4302895" cy="49377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/>
              <a:t>RTOS System Used-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DE022-8340-1415-26DB-A44A410D5799}"/>
              </a:ext>
            </a:extLst>
          </p:cNvPr>
          <p:cNvSpPr txBox="1">
            <a:spLocks/>
          </p:cNvSpPr>
          <p:nvPr/>
        </p:nvSpPr>
        <p:spPr>
          <a:xfrm>
            <a:off x="6702734" y="5098196"/>
            <a:ext cx="2761720" cy="119650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Segoe UI"/>
              </a:rPr>
              <a:t>Periodic Tasks</a:t>
            </a:r>
          </a:p>
          <a:p>
            <a:r>
              <a:rPr lang="en-US">
                <a:cs typeface="Segoe UI"/>
              </a:rPr>
              <a:t>Deterministic Timing</a:t>
            </a:r>
          </a:p>
          <a:p>
            <a:r>
              <a:rPr lang="en-US">
                <a:cs typeface="Segoe UI"/>
              </a:rPr>
              <a:t>Different Priority Levels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44531-7777-A7D9-E651-91CC559504C7}"/>
              </a:ext>
            </a:extLst>
          </p:cNvPr>
          <p:cNvSpPr txBox="1"/>
          <p:nvPr/>
        </p:nvSpPr>
        <p:spPr>
          <a:xfrm>
            <a:off x="1159056" y="1740740"/>
            <a:ext cx="6729571" cy="2754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u="sng">
                <a:solidFill>
                  <a:schemeClr val="bg1"/>
                </a:solidFill>
                <a:cs typeface="Segoe UI Light"/>
              </a:rPr>
              <a:t>Safely Coordinates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Vehicles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Pedestrians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Emergency Vehicles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u="sng">
                <a:solidFill>
                  <a:schemeClr val="bg1"/>
                </a:solidFill>
                <a:cs typeface="Segoe UI Light"/>
              </a:rPr>
              <a:t>Using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Priority-Driven Task Execution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State-Machine Control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30F4904-F34D-E673-0409-D15CB10F9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056" y="982339"/>
            <a:ext cx="7923984" cy="49377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3200" i="1">
                <a:cs typeface="Segoe UI Light"/>
              </a:rPr>
              <a:t>Goal: A Real-Time Scheduled Traffic System that-</a:t>
            </a:r>
          </a:p>
        </p:txBody>
      </p:sp>
    </p:spTree>
    <p:extLst>
      <p:ext uri="{BB962C8B-B14F-4D97-AF65-F5344CB8AC3E}">
        <p14:creationId xmlns:p14="http://schemas.microsoft.com/office/powerpoint/2010/main" val="629766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23AB-A040-3694-9AE4-742D79595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E18F-FF71-84F7-DE22-E12DC81B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106" y="160698"/>
            <a:ext cx="8878824" cy="802340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513393-5803-D036-50C3-9B25DA1A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C8837-807F-8ADB-023B-1ED9E4CBB554}"/>
              </a:ext>
            </a:extLst>
          </p:cNvPr>
          <p:cNvSpPr txBox="1"/>
          <p:nvPr/>
        </p:nvSpPr>
        <p:spPr>
          <a:xfrm>
            <a:off x="1140106" y="1911079"/>
            <a:ext cx="8878824" cy="37856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Scheduler executes periodic tasks based on timing and priority</a:t>
            </a:r>
          </a:p>
          <a:p>
            <a:endParaRPr lang="en-US" sz="2400" b="1">
              <a:solidFill>
                <a:schemeClr val="bg1"/>
              </a:solidFill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Preemptive Priority Scheduling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Ensures safety through priority enforcement</a:t>
            </a:r>
          </a:p>
          <a:p>
            <a:pPr lvl="1"/>
            <a:endParaRPr lang="en-US" sz="2400" b="1">
              <a:solidFill>
                <a:schemeClr val="bg1"/>
              </a:solidFill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Finite State Machine: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Controls traffic signal behavior</a:t>
            </a:r>
          </a:p>
          <a:p>
            <a:pPr lvl="1"/>
            <a:endParaRPr lang="en-US" sz="2400" b="1">
              <a:solidFill>
                <a:schemeClr val="bg1"/>
              </a:solidFill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System Clock: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bg1"/>
                </a:solidFill>
                <a:cs typeface="Segoe UI Light"/>
              </a:rPr>
              <a:t>Fixed Time-Step Simulation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01BB8-E9BD-F564-9FF9-3499F72859E9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A729510-50BE-BE5D-5660-F792954BE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106" y="1344021"/>
            <a:ext cx="6924538" cy="493776"/>
          </a:xfrm>
        </p:spPr>
        <p:txBody>
          <a:bodyPr/>
          <a:lstStyle/>
          <a:p>
            <a:r>
              <a:rPr lang="en-US" sz="3200" i="1">
                <a:cs typeface="Segoe UI Light"/>
              </a:rPr>
              <a:t>Simulated Real-Time Operating System</a:t>
            </a:r>
            <a:endParaRPr lang="en-US" sz="3200" i="1" u="sng">
              <a:cs typeface="Segoe UI Light"/>
            </a:endParaRP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72969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A664-E28B-2E2D-ED46-A592090A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8DB1-CD74-E47C-647A-D094201F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391" y="415864"/>
            <a:ext cx="8878824" cy="615268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21BE89-8D29-544F-B82D-3DB8B164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92592-37AC-0B18-650B-3D50EDA1F26A}"/>
              </a:ext>
            </a:extLst>
          </p:cNvPr>
          <p:cNvSpPr txBox="1"/>
          <p:nvPr/>
        </p:nvSpPr>
        <p:spPr>
          <a:xfrm>
            <a:off x="932812" y="1031132"/>
            <a:ext cx="308471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RTOS Scheduling Model: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4E3F2-3C7A-D73B-D54E-00AC8F12DE43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BF331-4976-3F0E-336B-A11145DC38B3}"/>
              </a:ext>
            </a:extLst>
          </p:cNvPr>
          <p:cNvSpPr txBox="1"/>
          <p:nvPr/>
        </p:nvSpPr>
        <p:spPr>
          <a:xfrm>
            <a:off x="1451391" y="1431242"/>
            <a:ext cx="510806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Normal traffic light cycles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Pedestrian crossings (with safety timing)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Emergency vehicle priority 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A7586A-6538-E003-F668-790C7648A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496523"/>
              </p:ext>
            </p:extLst>
          </p:nvPr>
        </p:nvGraphicFramePr>
        <p:xfrm>
          <a:off x="932812" y="3016154"/>
          <a:ext cx="7001945" cy="1463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19072">
                  <a:extLst>
                    <a:ext uri="{9D8B030D-6E8A-4147-A177-3AD203B41FA5}">
                      <a16:colId xmlns:a16="http://schemas.microsoft.com/office/drawing/2014/main" val="1957736659"/>
                    </a:ext>
                  </a:extLst>
                </a:gridCol>
                <a:gridCol w="1299067">
                  <a:extLst>
                    <a:ext uri="{9D8B030D-6E8A-4147-A177-3AD203B41FA5}">
                      <a16:colId xmlns:a16="http://schemas.microsoft.com/office/drawing/2014/main" val="3615153833"/>
                    </a:ext>
                  </a:extLst>
                </a:gridCol>
                <a:gridCol w="1050079">
                  <a:extLst>
                    <a:ext uri="{9D8B030D-6E8A-4147-A177-3AD203B41FA5}">
                      <a16:colId xmlns:a16="http://schemas.microsoft.com/office/drawing/2014/main" val="1147562811"/>
                    </a:ext>
                  </a:extLst>
                </a:gridCol>
                <a:gridCol w="2933727">
                  <a:extLst>
                    <a:ext uri="{9D8B030D-6E8A-4147-A177-3AD203B41FA5}">
                      <a16:colId xmlns:a16="http://schemas.microsoft.com/office/drawing/2014/main" val="838079930"/>
                    </a:ext>
                  </a:extLst>
                </a:gridCol>
              </a:tblGrid>
              <a:tr h="35017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Priority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Period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116582"/>
                  </a:ext>
                </a:extLst>
              </a:tr>
              <a:tr h="35017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Traffic Control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0.05s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Updates Signal States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318487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Vehicle System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0.02s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Moves &amp; Spawns Vehicles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314791"/>
                  </a:ext>
                </a:extLst>
              </a:tr>
              <a:tr h="35017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0.10s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Idle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7986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7C62A91-68B4-5B35-FBDF-27558D4ECA62}"/>
              </a:ext>
            </a:extLst>
          </p:cNvPr>
          <p:cNvSpPr txBox="1"/>
          <p:nvPr/>
        </p:nvSpPr>
        <p:spPr>
          <a:xfrm>
            <a:off x="826036" y="2554610"/>
            <a:ext cx="308471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Tasks: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B7ACD-C631-8656-F417-AEEDEF397C8A}"/>
              </a:ext>
            </a:extLst>
          </p:cNvPr>
          <p:cNvSpPr txBox="1"/>
          <p:nvPr/>
        </p:nvSpPr>
        <p:spPr>
          <a:xfrm>
            <a:off x="850392" y="4848388"/>
            <a:ext cx="308471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Behavior: 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A31C0-108A-8A91-6393-A985D50C15A1}"/>
              </a:ext>
            </a:extLst>
          </p:cNvPr>
          <p:cNvSpPr txBox="1"/>
          <p:nvPr/>
        </p:nvSpPr>
        <p:spPr>
          <a:xfrm>
            <a:off x="1370326" y="5248498"/>
            <a:ext cx="647016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Tasks accumulate time → run when ready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Scheduler runs highest priority first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Simulates preemptive embedded system behavior 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3614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B97F-62B8-50F3-BE8E-3286EA2A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529-8440-2C94-23A9-5E98E69D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391" y="415864"/>
            <a:ext cx="8878824" cy="1069848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4E986A-B7DE-5571-5E4B-4ACAFAFD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605F5-9398-2BB9-EC7F-A760BDB55CF1}"/>
              </a:ext>
            </a:extLst>
          </p:cNvPr>
          <p:cNvSpPr txBox="1"/>
          <p:nvPr/>
        </p:nvSpPr>
        <p:spPr>
          <a:xfrm>
            <a:off x="1895849" y="1665183"/>
            <a:ext cx="9250471" cy="4339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FINITE STATE MACHINE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Control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u="sng">
                <a:solidFill>
                  <a:schemeClr val="bg1"/>
                </a:solidFill>
                <a:cs typeface="Segoe UI Light"/>
              </a:rPr>
              <a:t>Communication Mechanisms: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Synchronous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Asynchronous </a:t>
            </a:r>
          </a:p>
          <a:p>
            <a:endParaRPr lang="en-US" sz="2000">
              <a:solidFill>
                <a:schemeClr val="bg1"/>
              </a:solidFill>
              <a:cs typeface="Segoe UI Light"/>
            </a:endParaRPr>
          </a:p>
          <a:p>
            <a:endParaRPr lang="en-US" sz="2000">
              <a:solidFill>
                <a:schemeClr val="bg1"/>
              </a:solidFill>
              <a:cs typeface="Segoe UI Light"/>
            </a:endParaRPr>
          </a:p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Traffic Controller Handles: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Manages Signal Phase &amp; System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Phase transitions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Timing logic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Interrupt-like requests (emergency/pedestrian) </a:t>
            </a:r>
          </a:p>
          <a:p>
            <a:endParaRPr lang="en-US">
              <a:solidFill>
                <a:schemeClr val="bg1"/>
              </a:solidFill>
              <a:cs typeface="Segoe UI Light"/>
            </a:endParaRPr>
          </a:p>
          <a:p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A2C79-E2C9-9964-5E28-26988D9FC028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4138507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49AC-1FEF-79FD-2D5D-0FF98683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A2E2-CF6B-80C6-13C3-318C1C68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391" y="415864"/>
            <a:ext cx="8878824" cy="1069848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073C26-36AC-B118-FB7D-B5A53828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42174-C114-E982-6BF9-703F828BBB53}"/>
              </a:ext>
            </a:extLst>
          </p:cNvPr>
          <p:cNvSpPr txBox="1"/>
          <p:nvPr/>
        </p:nvSpPr>
        <p:spPr>
          <a:xfrm>
            <a:off x="1089499" y="1485712"/>
            <a:ext cx="9841716" cy="4862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i="1" u="sng">
                <a:solidFill>
                  <a:schemeClr val="bg1"/>
                </a:solidFill>
                <a:cs typeface="Segoe UI Light"/>
              </a:rPr>
              <a:t>System Clock: Fixed Time-Step Simulation: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Periodic Signal, generated by a task/timer.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Simulated timer interrupts every 10 ms like an embedded microcontroller &amp; real RTOS tick. </a:t>
            </a:r>
          </a:p>
          <a:p>
            <a:endParaRPr lang="en-US" sz="2000">
              <a:solidFill>
                <a:schemeClr val="bg1"/>
              </a:solidFill>
              <a:cs typeface="Segoe UI Light"/>
            </a:endParaRPr>
          </a:p>
          <a:p>
            <a:endParaRPr lang="en-US" sz="1100">
              <a:solidFill>
                <a:schemeClr val="bg1"/>
              </a:solidFill>
              <a:cs typeface="Segoe UI Light"/>
            </a:endParaRPr>
          </a:p>
          <a:p>
            <a:pPr lvl="1"/>
            <a:r>
              <a:rPr lang="en-US" sz="2000" i="1" u="sng">
                <a:solidFill>
                  <a:schemeClr val="bg1"/>
                </a:solidFill>
                <a:cs typeface="Segoe UI Light"/>
              </a:rPr>
              <a:t>This Guarantees: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Deterministic Timing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Pedestrian crossing is always equal to or greater than 20s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cs typeface="Segoe UI Light"/>
              </a:rPr>
              <a:t>Emergency vehicles are handled immediately</a:t>
            </a:r>
          </a:p>
          <a:p>
            <a:endParaRPr lang="en-US">
              <a:solidFill>
                <a:schemeClr val="bg1"/>
              </a:solidFill>
              <a:cs typeface="Segoe UI Light"/>
            </a:endParaRPr>
          </a:p>
          <a:p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7371F-D854-AA92-4F90-05779DE566DC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6C666-D465-7A35-D81B-7A4C42443AAC}"/>
              </a:ext>
            </a:extLst>
          </p:cNvPr>
          <p:cNvSpPr txBox="1"/>
          <p:nvPr/>
        </p:nvSpPr>
        <p:spPr>
          <a:xfrm>
            <a:off x="1175142" y="2058611"/>
            <a:ext cx="984171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i="1" u="sng">
                <a:solidFill>
                  <a:schemeClr val="bg1"/>
                </a:solidFill>
              </a:rPr>
              <a:t>Purpose</a:t>
            </a:r>
            <a:r>
              <a:rPr lang="en-US">
                <a:solidFill>
                  <a:schemeClr val="bg1"/>
                </a:solidFill>
              </a:rPr>
              <a:t>: Confirms the scheduler is functioning, interrupts are active, &amp; no tasks are deadlocked.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7280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C3A09-EAF6-99D8-9B5B-DCE5D72F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DA45-4455-2128-9CF3-B9EA5C3B5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391" y="415864"/>
            <a:ext cx="8878824" cy="615268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1EA9CF-9549-F80D-ADCE-04D925E5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04E12-8099-8F93-CD4A-9CADD4586753}"/>
              </a:ext>
            </a:extLst>
          </p:cNvPr>
          <p:cNvSpPr txBox="1"/>
          <p:nvPr/>
        </p:nvSpPr>
        <p:spPr>
          <a:xfrm>
            <a:off x="589789" y="985007"/>
            <a:ext cx="518844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Tasks Represented like Real Embedded Systems</a:t>
            </a:r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84E96-0305-69A2-EB62-5632083AADC9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D887A-CF3A-0084-6F7E-81B492D180F2}"/>
              </a:ext>
            </a:extLst>
          </p:cNvPr>
          <p:cNvSpPr txBox="1"/>
          <p:nvPr/>
        </p:nvSpPr>
        <p:spPr>
          <a:xfrm>
            <a:off x="850392" y="1385117"/>
            <a:ext cx="5188442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chemeClr val="bg1"/>
                </a:solidFill>
              </a:rPr>
              <a:t>Subsystem Control Tasks Simulated/Represented by</a:t>
            </a:r>
            <a:r>
              <a:rPr lang="en-US">
                <a:solidFill>
                  <a:schemeClr val="bg1"/>
                </a:solidFill>
              </a:rPr>
              <a:t>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Traffic Control Task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Vehicle System Task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Background 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17228-A5A6-7B14-031C-4D4B21FA4B9F}"/>
              </a:ext>
            </a:extLst>
          </p:cNvPr>
          <p:cNvSpPr txBox="1"/>
          <p:nvPr/>
        </p:nvSpPr>
        <p:spPr>
          <a:xfrm>
            <a:off x="2558375" y="4142883"/>
            <a:ext cx="5719864" cy="135421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2. Vehicle System Task: </a:t>
            </a:r>
            <a:r>
              <a:rPr lang="en-US" sz="1600">
                <a:solidFill>
                  <a:schemeClr val="bg1"/>
                </a:solidFill>
              </a:rPr>
              <a:t>Simulated sensor &amp; actuator update loop.</a:t>
            </a:r>
          </a:p>
          <a:p>
            <a:r>
              <a:rPr lang="en-US" sz="1600" i="1" u="sng">
                <a:solidFill>
                  <a:schemeClr val="bg1"/>
                </a:solidFill>
              </a:rPr>
              <a:t>Vehicle System Manages: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Movement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Collison Spacing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93008-63EF-A472-7966-0E5A9578AB75}"/>
              </a:ext>
            </a:extLst>
          </p:cNvPr>
          <p:cNvSpPr txBox="1"/>
          <p:nvPr/>
        </p:nvSpPr>
        <p:spPr>
          <a:xfrm>
            <a:off x="2558375" y="2687056"/>
            <a:ext cx="5719864" cy="135421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1. Traffic Control Task</a:t>
            </a:r>
            <a:r>
              <a:rPr lang="en-US" sz="1600">
                <a:solidFill>
                  <a:schemeClr val="bg1"/>
                </a:solidFill>
              </a:rPr>
              <a:t>: Traffic Controller firmware task. </a:t>
            </a:r>
          </a:p>
          <a:p>
            <a:r>
              <a:rPr lang="en-US" sz="1600" i="1" u="sng">
                <a:solidFill>
                  <a:schemeClr val="bg1"/>
                </a:solidFill>
              </a:rPr>
              <a:t>Traffic Controller Manages</a:t>
            </a:r>
            <a:r>
              <a:rPr lang="en-US" sz="160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Traffic 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Pedestrian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Emergency Overrides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A4034-72E5-32DD-9817-15B648FA92C2}"/>
              </a:ext>
            </a:extLst>
          </p:cNvPr>
          <p:cNvSpPr txBox="1"/>
          <p:nvPr/>
        </p:nvSpPr>
        <p:spPr>
          <a:xfrm>
            <a:off x="2558374" y="5598710"/>
            <a:ext cx="5719864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3. Background Task: </a:t>
            </a:r>
            <a:r>
              <a:rPr lang="en-US" sz="1600">
                <a:solidFill>
                  <a:schemeClr val="bg1"/>
                </a:solidFill>
              </a:rPr>
              <a:t>Idle Tasks in RTOS</a:t>
            </a:r>
          </a:p>
          <a:p>
            <a:r>
              <a:rPr lang="en-US" sz="1600" i="1" u="sng">
                <a:solidFill>
                  <a:schemeClr val="bg1"/>
                </a:solidFill>
              </a:rPr>
              <a:t>Background Task Manges</a:t>
            </a:r>
            <a:r>
              <a:rPr lang="en-US" sz="160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What can run when nothing else needs the CPU</a:t>
            </a:r>
          </a:p>
        </p:txBody>
      </p:sp>
    </p:spTree>
    <p:extLst>
      <p:ext uri="{BB962C8B-B14F-4D97-AF65-F5344CB8AC3E}">
        <p14:creationId xmlns:p14="http://schemas.microsoft.com/office/powerpoint/2010/main" val="2229297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6ACC-48CD-44B1-8C28-DD042CEB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C2B6-F60F-2B2E-79BC-68A5B40A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50" y="299951"/>
            <a:ext cx="8878824" cy="1069848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71FACF-4F84-6C19-A3F7-43EBC9C3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F395B-F351-89E4-FB94-8C864BC9B0A1}"/>
              </a:ext>
            </a:extLst>
          </p:cNvPr>
          <p:cNvSpPr txBox="1"/>
          <p:nvPr/>
        </p:nvSpPr>
        <p:spPr>
          <a:xfrm>
            <a:off x="1344387" y="1369799"/>
            <a:ext cx="9706235" cy="1239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u="sng">
                <a:solidFill>
                  <a:schemeClr val="bg1"/>
                </a:solidFill>
                <a:cs typeface="Segoe UI Light"/>
              </a:rPr>
              <a:t>Preemptive Priority Scheduling: Simulates preemptive embedded system behavior </a:t>
            </a:r>
          </a:p>
          <a:p>
            <a:pPr>
              <a:lnSpc>
                <a:spcPct val="200000"/>
              </a:lnSpc>
            </a:pPr>
            <a:endParaRPr lang="en-US">
              <a:solidFill>
                <a:schemeClr val="bg1"/>
              </a:solidFill>
              <a:cs typeface="Segoe UI Light"/>
            </a:endParaRPr>
          </a:p>
          <a:p>
            <a:pPr>
              <a:lnSpc>
                <a:spcPct val="200000"/>
              </a:lnSpc>
            </a:pPr>
            <a:endParaRPr lang="en-US" sz="1100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ECD5F-99C8-BA96-9B1F-D7876829E6DC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525A8-C41B-2709-EDEA-4F7C7F63A46E}"/>
              </a:ext>
            </a:extLst>
          </p:cNvPr>
          <p:cNvSpPr txBox="1"/>
          <p:nvPr/>
        </p:nvSpPr>
        <p:spPr>
          <a:xfrm>
            <a:off x="1870669" y="2015525"/>
            <a:ext cx="845066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i="1" u="sng">
                <a:solidFill>
                  <a:schemeClr val="bg1"/>
                </a:solidFill>
              </a:rPr>
              <a:t>Purpose</a:t>
            </a:r>
            <a:r>
              <a:rPr lang="en-US">
                <a:solidFill>
                  <a:schemeClr val="bg1"/>
                </a:solidFill>
              </a:rPr>
              <a:t>: Preemptive RTOS behavior when dealing with multiple tasks ready at the same time. </a:t>
            </a:r>
            <a:r>
              <a:rPr lang="en-US">
                <a:solidFill>
                  <a:schemeClr val="bg1"/>
                </a:solidFill>
                <a:cs typeface="Segoe UI Light"/>
              </a:rPr>
              <a:t>New tasks that arrive with a higher priority preempt currently running task.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9E71C-1C0F-89B5-D10C-2002803BF7E1}"/>
              </a:ext>
            </a:extLst>
          </p:cNvPr>
          <p:cNvSpPr txBox="1"/>
          <p:nvPr/>
        </p:nvSpPr>
        <p:spPr>
          <a:xfrm>
            <a:off x="3354770" y="3360289"/>
            <a:ext cx="4602456" cy="13234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i="1" u="sng">
                <a:solidFill>
                  <a:schemeClr val="bg1"/>
                </a:solidFill>
                <a:cs typeface="Segoe UI Light"/>
              </a:rPr>
              <a:t>Priority-based Task Execution: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  <a:cs typeface="Segoe UI Light"/>
              </a:rPr>
              <a:t>HIGH</a:t>
            </a:r>
            <a:r>
              <a:rPr lang="en-US" sz="2000">
                <a:solidFill>
                  <a:schemeClr val="bg1"/>
                </a:solidFill>
                <a:cs typeface="Segoe UI Light"/>
              </a:rPr>
              <a:t>: Traffic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  <a:cs typeface="Segoe UI Light"/>
              </a:rPr>
              <a:t>MEDIUM</a:t>
            </a:r>
            <a:r>
              <a:rPr lang="en-US" sz="2000">
                <a:solidFill>
                  <a:schemeClr val="bg1"/>
                </a:solidFill>
                <a:cs typeface="Segoe UI Light"/>
              </a:rPr>
              <a:t>: Vehicle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  <a:cs typeface="Segoe UI Light"/>
              </a:rPr>
              <a:t>LOW</a:t>
            </a:r>
            <a:r>
              <a:rPr lang="en-US" sz="2000">
                <a:solidFill>
                  <a:schemeClr val="bg1"/>
                </a:solidFill>
                <a:cs typeface="Segoe UI Light"/>
              </a:rPr>
              <a:t>: Background</a:t>
            </a:r>
          </a:p>
        </p:txBody>
      </p:sp>
    </p:spTree>
    <p:extLst>
      <p:ext uri="{BB962C8B-B14F-4D97-AF65-F5344CB8AC3E}">
        <p14:creationId xmlns:p14="http://schemas.microsoft.com/office/powerpoint/2010/main" val="308436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06FBA-64B4-6CE2-9619-96DCF071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2010-8246-A12C-CA3D-613B7C3E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89" y="168075"/>
            <a:ext cx="8878824" cy="732000"/>
          </a:xfrm>
        </p:spPr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132DFC-BB3D-3E55-86ED-26DE62F3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C01D2-2FB2-941F-A30F-A4EF26AD4DFD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E59F5-EFF9-9A08-34EE-15C5D8452159}"/>
              </a:ext>
            </a:extLst>
          </p:cNvPr>
          <p:cNvSpPr txBox="1"/>
          <p:nvPr/>
        </p:nvSpPr>
        <p:spPr>
          <a:xfrm>
            <a:off x="775881" y="820682"/>
            <a:ext cx="8549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u="sng">
                <a:solidFill>
                  <a:schemeClr val="bg1"/>
                </a:solidFill>
                <a:cs typeface="Segoe UI Light"/>
              </a:rPr>
              <a:t>Guaranteed Safety: Priority Enforcement</a:t>
            </a:r>
          </a:p>
          <a:p>
            <a:endParaRPr lang="en-US">
              <a:solidFill>
                <a:schemeClr val="bg1"/>
              </a:solidFill>
              <a:cs typeface="Segoe UI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9E512-1004-4E00-F4CB-511CC31D3FD6}"/>
              </a:ext>
            </a:extLst>
          </p:cNvPr>
          <p:cNvSpPr txBox="1"/>
          <p:nvPr/>
        </p:nvSpPr>
        <p:spPr>
          <a:xfrm>
            <a:off x="1303222" y="1228374"/>
            <a:ext cx="717929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i="1" u="sng">
                <a:solidFill>
                  <a:schemeClr val="bg1"/>
                </a:solidFill>
              </a:rPr>
              <a:t>Purpose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en-US">
                <a:solidFill>
                  <a:schemeClr val="bg1"/>
                </a:solidFill>
                <a:cs typeface="Segoe UI Light"/>
              </a:rPr>
              <a:t>RTOS Resource Protection and Real-Time Constraint Handling.</a:t>
            </a:r>
          </a:p>
          <a:p>
            <a:r>
              <a:rPr lang="en-US" i="1" u="sng">
                <a:solidFill>
                  <a:schemeClr val="bg1"/>
                </a:solidFill>
                <a:cs typeface="Segoe UI Light"/>
              </a:rPr>
              <a:t>Used for</a:t>
            </a:r>
            <a:r>
              <a:rPr lang="en-US">
                <a:solidFill>
                  <a:schemeClr val="bg1"/>
                </a:solidFill>
                <a:cs typeface="Segoe UI Light"/>
              </a:rPr>
              <a:t>: Emergency Vehicles and Pedestrians.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5B226-DEA2-9327-3719-AA5509E06D91}"/>
              </a:ext>
            </a:extLst>
          </p:cNvPr>
          <p:cNvSpPr txBox="1"/>
          <p:nvPr/>
        </p:nvSpPr>
        <p:spPr>
          <a:xfrm>
            <a:off x="1427634" y="2119620"/>
            <a:ext cx="4778613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i="1" u="sng">
                <a:solidFill>
                  <a:schemeClr val="bg1"/>
                </a:solidFill>
                <a:cs typeface="Segoe UI Light"/>
              </a:rPr>
              <a:t>Priority-based Task Execution</a:t>
            </a:r>
            <a:r>
              <a:rPr lang="en-US">
                <a:solidFill>
                  <a:schemeClr val="bg1"/>
                </a:solidFill>
                <a:cs typeface="Segoe UI Light"/>
              </a:rPr>
              <a:t>: Priority Safety</a:t>
            </a:r>
          </a:p>
          <a:p>
            <a:pPr lvl="1"/>
            <a:r>
              <a:rPr lang="en-US">
                <a:solidFill>
                  <a:schemeClr val="bg1"/>
                </a:solidFill>
                <a:cs typeface="Segoe UI Light"/>
              </a:rPr>
              <a:t>Emergency &gt; Pedestrian &gt; Normal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0CF81-AAD9-72B2-5D66-CE8D871C9299}"/>
              </a:ext>
            </a:extLst>
          </p:cNvPr>
          <p:cNvSpPr txBox="1"/>
          <p:nvPr/>
        </p:nvSpPr>
        <p:spPr>
          <a:xfrm>
            <a:off x="1616234" y="2960645"/>
            <a:ext cx="643682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i="1" u="sng">
                <a:solidFill>
                  <a:schemeClr val="bg1"/>
                </a:solidFill>
                <a:cs typeface="Segoe UI Light"/>
              </a:rPr>
              <a:t>Emergency Vehicles</a:t>
            </a:r>
            <a:r>
              <a:rPr lang="en-US">
                <a:solidFill>
                  <a:schemeClr val="bg1"/>
                </a:solidFill>
                <a:cs typeface="Segoe UI Light"/>
              </a:rPr>
              <a:t>: Real-Time Constraint Handling done 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Forcing system into a safe state (ALL RED = EMERGENCY)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Immediately Overriding of all other tasks.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08BE4-9874-FF77-F27C-565A3D57000D}"/>
              </a:ext>
            </a:extLst>
          </p:cNvPr>
          <p:cNvSpPr txBox="1"/>
          <p:nvPr/>
        </p:nvSpPr>
        <p:spPr>
          <a:xfrm>
            <a:off x="1616234" y="4955726"/>
            <a:ext cx="5317332" cy="9541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b="1" u="sng">
                <a:solidFill>
                  <a:schemeClr val="bg1"/>
                </a:solidFill>
                <a:cs typeface="Segoe UI Light"/>
              </a:rPr>
              <a:t>SAFETY GUARANTEES-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No conflicting green lights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Controlled entry/exit during special phases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A7C7F-7A61-A7FB-E722-6BC2F79885E8}"/>
              </a:ext>
            </a:extLst>
          </p:cNvPr>
          <p:cNvSpPr txBox="1"/>
          <p:nvPr/>
        </p:nvSpPr>
        <p:spPr>
          <a:xfrm>
            <a:off x="1616234" y="4096685"/>
            <a:ext cx="760703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i="1" u="sng">
                <a:solidFill>
                  <a:schemeClr val="bg1"/>
                </a:solidFill>
                <a:cs typeface="Segoe UI Light"/>
              </a:rPr>
              <a:t>Pedestrians</a:t>
            </a:r>
            <a:r>
              <a:rPr lang="en-US">
                <a:solidFill>
                  <a:schemeClr val="bg1"/>
                </a:solidFill>
                <a:cs typeface="Segoe UI Light"/>
              </a:rPr>
              <a:t>: RTOS Resource Protection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cs typeface="Segoe UI Light"/>
              </a:rPr>
              <a:t>Done by ensuring Deterministic Timing &amp; preventing reentrancy bugs</a:t>
            </a:r>
          </a:p>
        </p:txBody>
      </p:sp>
    </p:spTree>
    <p:extLst>
      <p:ext uri="{BB962C8B-B14F-4D97-AF65-F5344CB8AC3E}">
        <p14:creationId xmlns:p14="http://schemas.microsoft.com/office/powerpoint/2010/main" val="2400502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10" y="187452"/>
            <a:ext cx="8878824" cy="1069848"/>
          </a:xfrm>
        </p:spPr>
        <p:txBody>
          <a:bodyPr/>
          <a:lstStyle/>
          <a:p>
            <a:r>
              <a:rPr lang="en-US"/>
              <a:t>Documentation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7BD2953-5B52-3266-FB1C-F1F398C91276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5F42F8-023A-5C2F-6898-A7DB10B23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" y="1996788"/>
            <a:ext cx="11990630" cy="281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47" y="59660"/>
            <a:ext cx="3767987" cy="855406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References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119" y="1486840"/>
            <a:ext cx="10913165" cy="3540716"/>
          </a:xfrm>
        </p:spPr>
        <p:txBody>
          <a:bodyPr/>
          <a:lstStyle/>
          <a:p>
            <a:pPr algn="l"/>
            <a:r>
              <a:rPr lang="en-US"/>
              <a:t>[1] S. S. Chavan, R. S. Deshpande and J. G. Rana, "Design of Intelligent Traffic Light Controller Using Embedded System," </a:t>
            </a:r>
            <a:r>
              <a:rPr lang="en-US" i="1"/>
              <a:t>2009 Second International Conference on Emerging Trends in Engineering &amp; Technology</a:t>
            </a:r>
            <a:r>
              <a:rPr lang="en-US"/>
              <a:t>, Nagpur, India, 2009, pp. 1086-1091, </a:t>
            </a:r>
            <a:r>
              <a:rPr lang="en-US" err="1"/>
              <a:t>doi</a:t>
            </a:r>
            <a:r>
              <a:rPr lang="en-US"/>
              <a:t>: 10.1109/ICETET.2009.76.</a:t>
            </a:r>
          </a:p>
          <a:p>
            <a:pPr algn="l"/>
            <a:r>
              <a:rPr lang="en-US"/>
              <a:t>[2] S. Chiu and S. Chand, "Adaptive Traffic Signal Control Using Fuzzy Logic," 1993 IEEE International Conference on Fuzzy Systems, San Francisco, CA, USA, 1993, pp. 1371-1376. </a:t>
            </a:r>
          </a:p>
          <a:p>
            <a:pPr algn="l"/>
            <a:r>
              <a:rPr lang="en-US"/>
              <a:t>[3] Z. Bundalo, M. Veljko, D. Bundalo, G. Kuzmić, M. </a:t>
            </a:r>
            <a:r>
              <a:rPr lang="en-US" err="1"/>
              <a:t>Sajić</a:t>
            </a:r>
            <a:r>
              <a:rPr lang="en-US"/>
              <a:t>, and A. </a:t>
            </a:r>
            <a:r>
              <a:rPr lang="en-US" err="1"/>
              <a:t>Ramakić</a:t>
            </a:r>
            <a:r>
              <a:rPr lang="en-US"/>
              <a:t>, "Energy Efficient Embedded Systems for LED Lighting Control in Traffic," </a:t>
            </a:r>
            <a:r>
              <a:rPr lang="en-US" i="1"/>
              <a:t>8th Mediterranean Conference on Embedded Computing (MECO)</a:t>
            </a:r>
            <a:r>
              <a:rPr lang="en-US"/>
              <a:t>, Budva, Montenegro, 2019, pp. 1-4, </a:t>
            </a:r>
            <a:r>
              <a:rPr lang="en-US" err="1"/>
              <a:t>doi</a:t>
            </a:r>
            <a:r>
              <a:rPr lang="en-US"/>
              <a:t>: 10.1109/MECO.2019.8760048.</a:t>
            </a:r>
          </a:p>
          <a:p>
            <a:pPr algn="l"/>
            <a:r>
              <a:rPr lang="en-US"/>
              <a:t>[4] L. Cai, Z. Li, Y. Zhong, P. Lin and F. Zhang, "Design and Optimization of Intelligent Traffic Light Based on STM32 Microcontroller," in </a:t>
            </a:r>
            <a:r>
              <a:rPr lang="en-US" i="1"/>
              <a:t>Proceedings of the 2024 International Symposium on Integrated Circuit Design and Integrated Systems (ICDIS 2024)</a:t>
            </a:r>
            <a:r>
              <a:rPr lang="en-US"/>
              <a:t>, Xiamen, China, Nov. 22-24, 2024, ACM, New York, NY, USA, 6 pages. </a:t>
            </a:r>
          </a:p>
          <a:p>
            <a:pPr algn="l"/>
            <a:r>
              <a:rPr lang="en-US"/>
              <a:t>[5] H. </a:t>
            </a:r>
            <a:r>
              <a:rPr lang="en-US" err="1"/>
              <a:t>Kulhandjian</a:t>
            </a:r>
            <a:r>
              <a:rPr lang="en-US"/>
              <a:t>, W. Greives, and M. </a:t>
            </a:r>
            <a:r>
              <a:rPr lang="en-US" err="1"/>
              <a:t>Kulhandjian</a:t>
            </a:r>
            <a:r>
              <a:rPr lang="en-US"/>
              <a:t>, "Smart Traffic Light Controller using Visible Light Communications," </a:t>
            </a:r>
            <a:r>
              <a:rPr lang="en-US" i="1"/>
              <a:t>IEEE Vehicle Power and Propulsion Conference (VPPC)</a:t>
            </a:r>
            <a:r>
              <a:rPr lang="en-US"/>
              <a:t>, Merced, CA, USA, 2022, pp. 1-6, </a:t>
            </a:r>
            <a:r>
              <a:rPr lang="en-US" err="1"/>
              <a:t>doi</a:t>
            </a:r>
            <a:r>
              <a:rPr lang="en-US"/>
              <a:t>: 10.1109/VPPC55846.2022.10003305.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009BA-066A-56E9-D942-14DB89007876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1439E-C635-B067-98B9-113C4324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CDD3D-A40D-4D7E-C5DB-AE388BEC2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47" y="59660"/>
            <a:ext cx="3767987" cy="855406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References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FDEED-D4B6-2473-AF49-EFB025CD8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119" y="1486840"/>
            <a:ext cx="10913165" cy="3540716"/>
          </a:xfrm>
        </p:spPr>
        <p:txBody>
          <a:bodyPr/>
          <a:lstStyle/>
          <a:p>
            <a:pPr algn="l"/>
            <a:r>
              <a:rPr lang="en-US"/>
              <a:t>[6] D. Baskar, S. </a:t>
            </a:r>
            <a:r>
              <a:rPr lang="en-US" err="1"/>
              <a:t>Pragadeswaran</a:t>
            </a:r>
            <a:r>
              <a:rPr lang="en-US"/>
              <a:t>, N. Ragupathi, U. S. Praveen, S. Preethi, and S. R. Vishnu Kumar, </a:t>
            </a:r>
            <a:r>
              <a:rPr lang="en-US" i="1"/>
              <a:t>"IoT-based Smart Traffic Management System,"</a:t>
            </a:r>
            <a:r>
              <a:rPr lang="en-US"/>
              <a:t> in </a:t>
            </a:r>
            <a:r>
              <a:rPr lang="en-US" i="1"/>
              <a:t>2025 7th International Conference on Inventive Material Science and Applications (ICIMA)</a:t>
            </a:r>
            <a:r>
              <a:rPr lang="en-US"/>
              <a:t>, Namakkal, India, May 2025, </a:t>
            </a:r>
            <a:r>
              <a:rPr lang="en-US" err="1"/>
              <a:t>doi</a:t>
            </a:r>
            <a:r>
              <a:rPr lang="en-US"/>
              <a:t>: 10.1109/ICIMA64861.2025.11074196.</a:t>
            </a:r>
          </a:p>
          <a:p>
            <a:pPr algn="l"/>
            <a:r>
              <a:rPr lang="en-US"/>
              <a:t>[7] L. Wu, R. Zhang, R. Zhou and D. Wu, "An edge computing based data detection scheme for traffic light at intersections," </a:t>
            </a:r>
            <a:r>
              <a:rPr lang="en-US" i="1"/>
              <a:t>Computer Communications</a:t>
            </a:r>
            <a:r>
              <a:rPr lang="en-US"/>
              <a:t>, vol. 176, pp. 91-98, 2021. </a:t>
            </a:r>
          </a:p>
          <a:p>
            <a:pPr algn="l"/>
            <a:r>
              <a:rPr lang="en-US"/>
              <a:t>[8] M. M. Elkhatib, A. I. Adwan, A. S. </a:t>
            </a:r>
            <a:r>
              <a:rPr lang="en-US" err="1"/>
              <a:t>Alsamna</a:t>
            </a:r>
            <a:r>
              <a:rPr lang="en-US"/>
              <a:t> and A. M. Abu-</a:t>
            </a:r>
            <a:r>
              <a:rPr lang="en-US" err="1"/>
              <a:t>Hudrouss</a:t>
            </a:r>
            <a:r>
              <a:rPr lang="en-US"/>
              <a:t>, "Smart Traffic Lights using Image Processing Algorithms," </a:t>
            </a:r>
            <a:r>
              <a:rPr lang="en-US" i="1"/>
              <a:t>2019 IEEE 7th Palestinian International Conference on Electrical and Computer Engineering (PICECE)</a:t>
            </a:r>
            <a:r>
              <a:rPr lang="en-US"/>
              <a:t>, Gaza, Palestine, 2019, pp. 1-6, </a:t>
            </a:r>
            <a:r>
              <a:rPr lang="en-US" err="1"/>
              <a:t>doi</a:t>
            </a:r>
            <a:r>
              <a:rPr lang="en-US"/>
              <a:t>: 10.1109/PICECE.2019.8747225.</a:t>
            </a:r>
          </a:p>
          <a:p>
            <a:pPr algn="l"/>
            <a:r>
              <a:rPr lang="en-US"/>
              <a:t>[9] I. </a:t>
            </a:r>
            <a:r>
              <a:rPr lang="en-US" err="1"/>
              <a:t>Gokasar</a:t>
            </a:r>
            <a:r>
              <a:rPr lang="en-US"/>
              <a:t> and A. </a:t>
            </a:r>
            <a:r>
              <a:rPr lang="en-US" err="1"/>
              <a:t>Timurogullari</a:t>
            </a:r>
            <a:r>
              <a:rPr lang="en-US"/>
              <a:t>, </a:t>
            </a:r>
            <a:r>
              <a:rPr lang="en-US" i="1"/>
              <a:t>"Real-Time Prediction of Traffic Density with Deep Learning Using Computer Vision and Traffic Event Information,"</a:t>
            </a:r>
            <a:r>
              <a:rPr lang="en-US"/>
              <a:t> in </a:t>
            </a:r>
            <a:r>
              <a:rPr lang="en-US" i="1"/>
              <a:t>2021 International Conference on Innovations in Intelligent Systems and Applications (INISTA)</a:t>
            </a:r>
            <a:r>
              <a:rPr lang="en-US"/>
              <a:t>, Kocaeli, Turkey, Aug. 2021, </a:t>
            </a:r>
            <a:r>
              <a:rPr lang="en-US" err="1"/>
              <a:t>doi</a:t>
            </a:r>
            <a:r>
              <a:rPr lang="en-US"/>
              <a:t>: 10.1109/INISTA52262.2021.9548434. </a:t>
            </a:r>
          </a:p>
          <a:p>
            <a:pPr algn="l"/>
            <a:r>
              <a:rPr lang="en-US"/>
              <a:t>[10] H. Wei, G. Zheng, H. Yao and Z. Li, "</a:t>
            </a:r>
            <a:r>
              <a:rPr lang="en-US" err="1"/>
              <a:t>IntelliLight</a:t>
            </a:r>
            <a:r>
              <a:rPr lang="en-US"/>
              <a:t>: A Reinforcement Learning Approach for Intelligent Traffic Light Control," in </a:t>
            </a:r>
            <a:r>
              <a:rPr lang="en-US" i="1"/>
              <a:t>Proceedings of the 24th ACM SIGKDD International Conference on Knowledge Discovery &amp; Data Mining (KDD '18)</a:t>
            </a:r>
            <a:r>
              <a:rPr lang="en-US"/>
              <a:t>, London, United Kingdom, Aug. 19-23, 2018, ACM, New York, NY, USA, 10 pages.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B81B6-3404-5443-FB4D-786A001BCF30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17183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1B7D-CEB2-5FC6-E418-14F87666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A868-37C3-D193-9072-94EEFEA21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47" y="59660"/>
            <a:ext cx="3767987" cy="855406"/>
          </a:xfrm>
        </p:spPr>
        <p:txBody>
          <a:bodyPr/>
          <a:lstStyle/>
          <a:p>
            <a:r>
              <a:rPr lang="en-US" sz="40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References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CA275-EC53-164B-4F3C-D300A434E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119" y="1486840"/>
            <a:ext cx="10913165" cy="3540716"/>
          </a:xfrm>
        </p:spPr>
        <p:txBody>
          <a:bodyPr/>
          <a:lstStyle/>
          <a:p>
            <a:pPr algn="l"/>
            <a:r>
              <a:rPr lang="en-US"/>
              <a:t>[11] T. Chu, J. Wang, L. </a:t>
            </a:r>
            <a:r>
              <a:rPr lang="en-US" err="1"/>
              <a:t>Codecà</a:t>
            </a:r>
            <a:r>
              <a:rPr lang="en-US"/>
              <a:t> and Z. Li, "Multi-Agent Deep Reinforcement Learning for Large-scale Traffic Signal Control," </a:t>
            </a:r>
            <a:r>
              <a:rPr lang="en-US" err="1"/>
              <a:t>arXiv</a:t>
            </a:r>
            <a:r>
              <a:rPr lang="en-US"/>
              <a:t> preprint arXiv:1903.04527, 2019. </a:t>
            </a:r>
          </a:p>
          <a:p>
            <a:pPr algn="l"/>
            <a:r>
              <a:rPr lang="en-US"/>
              <a:t>[12] B. Muyombo, H. Vadapalli, "Enhancing Urban Traffic Flow: An AI-Driven Traffic Light Management System", </a:t>
            </a:r>
            <a:r>
              <a:rPr lang="en-US" i="1"/>
              <a:t>Procedia Computer Science</a:t>
            </a:r>
            <a:r>
              <a:rPr lang="en-US"/>
              <a:t>, Volume 270, June 2025, Pages 3848-3859, ISSN 1877-0509, </a:t>
            </a:r>
            <a:r>
              <a:rPr lang="en-US">
                <a:hlinkClick r:id="rId2"/>
              </a:rPr>
              <a:t>https://doi.org/10.1016/j.procs.2025.09.510</a:t>
            </a:r>
            <a:r>
              <a:rPr lang="en-US"/>
              <a:t>.</a:t>
            </a:r>
          </a:p>
          <a:p>
            <a:pPr algn="l"/>
            <a:r>
              <a:rPr lang="en-US"/>
              <a:t>[13] R. M. </a:t>
            </a:r>
            <a:r>
              <a:rPr lang="en-US" err="1"/>
              <a:t>Khaleefah</a:t>
            </a:r>
            <a:r>
              <a:rPr lang="en-US"/>
              <a:t>, </a:t>
            </a:r>
            <a:r>
              <a:rPr lang="en-US" i="1"/>
              <a:t>"An Intelligent Traffic Control System using Edge-Cloud Computing and Deep Learning for Smart Cities,"</a:t>
            </a:r>
            <a:r>
              <a:rPr lang="en-US"/>
              <a:t> </a:t>
            </a:r>
            <a:r>
              <a:rPr lang="en-US" i="1"/>
              <a:t>International Journal of Engineering Research &amp; Technology (IJERT)</a:t>
            </a:r>
            <a:r>
              <a:rPr lang="en-US"/>
              <a:t>, vol. 14, no. 07, July 2025, </a:t>
            </a:r>
            <a:r>
              <a:rPr lang="en-US" err="1"/>
              <a:t>doi</a:t>
            </a:r>
            <a:r>
              <a:rPr lang="en-US"/>
              <a:t>: 10.17577/IJERTV14IS070169. </a:t>
            </a:r>
          </a:p>
          <a:p>
            <a:pPr algn="l"/>
            <a:r>
              <a:rPr lang="en-US"/>
              <a:t>[14] M. Raza, M. Kazmi, H. M. Kidwai, H. R. Khan, S. A. Qazi, K. Arshad and K. </a:t>
            </a:r>
            <a:r>
              <a:rPr lang="en-US" err="1"/>
              <a:t>Assaleh</a:t>
            </a:r>
            <a:r>
              <a:rPr lang="en-US"/>
              <a:t>, "An Edge-Deployed Real-Time Adaptive Traffic Light Control System Using YOLO-Based Vehicle Detection and PCE-Aware Density Estimation," </a:t>
            </a:r>
            <a:r>
              <a:rPr lang="en-US" i="1"/>
              <a:t>IEEE Access</a:t>
            </a:r>
            <a:r>
              <a:rPr lang="en-US"/>
              <a:t>, vol. 13, 2025.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4089D-D576-713F-0E4F-344E00ED2D5C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821720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5F4EA-3BDF-9D18-8D04-972918641285}"/>
              </a:ext>
            </a:extLst>
          </p:cNvPr>
          <p:cNvSpPr txBox="1">
            <a:spLocks/>
          </p:cNvSpPr>
          <p:nvPr/>
        </p:nvSpPr>
        <p:spPr>
          <a:xfrm>
            <a:off x="-97861" y="6511483"/>
            <a:ext cx="4932507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RTOS Traffic Light Prioritizing Emergency Vehicles &amp; Pedestrians</a:t>
            </a: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47C7EF-7EF8-5A3E-BEF0-8A2A3BE4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59171C-73DE-90A7-C0A6-42F413B0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28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4FA866-4A87-7257-601C-9B3F40896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547" y="2692171"/>
            <a:ext cx="111501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 demonstration of our RTOS traffic light system that prioritizes pedestrians and emergency vehicles can be found at: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https://youtu.be/w7sQMiFTz9Q</a:t>
            </a: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https://youtu.be/w7sQMiFTz9Q</a:t>
            </a:r>
            <a:r>
              <a:rPr kumimoji="0" lang="en-US" altLang="en-US" sz="1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9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7E04AC43618E45831642DB2B2938AF" ma:contentTypeVersion="11" ma:contentTypeDescription="Create a new document." ma:contentTypeScope="" ma:versionID="d739d346144bf22ea1a32ab50c9d9a9b">
  <xsd:schema xmlns:xsd="http://www.w3.org/2001/XMLSchema" xmlns:xs="http://www.w3.org/2001/XMLSchema" xmlns:p="http://schemas.microsoft.com/office/2006/metadata/properties" xmlns:ns3="4a3af7d6-2e64-40d4-a45e-c969b7274f0c" xmlns:ns4="b07081d3-acb9-4ad3-96b0-9375459d330e" targetNamespace="http://schemas.microsoft.com/office/2006/metadata/properties" ma:root="true" ma:fieldsID="70091576507dc4a7d7d0ffcdc5c0bed9" ns3:_="" ns4:_="">
    <xsd:import namespace="4a3af7d6-2e64-40d4-a45e-c969b7274f0c"/>
    <xsd:import namespace="b07081d3-acb9-4ad3-96b0-9375459d33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af7d6-2e64-40d4-a45e-c969b7274f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7081d3-acb9-4ad3-96b0-9375459d330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a3af7d6-2e64-40d4-a45e-c969b7274f0c" xsi:nil="true"/>
    <_activity xmlns="4a3af7d6-2e64-40d4-a45e-c969b7274f0c" xsi:nil="true"/>
  </documentManagement>
</p:properties>
</file>

<file path=customXml/itemProps1.xml><?xml version="1.0" encoding="utf-8"?>
<ds:datastoreItem xmlns:ds="http://schemas.openxmlformats.org/officeDocument/2006/customXml" ds:itemID="{8C6A48F3-8455-4B79-8818-55FDF1D37C9E}">
  <ds:schemaRefs>
    <ds:schemaRef ds:uri="4a3af7d6-2e64-40d4-a45e-c969b7274f0c"/>
    <ds:schemaRef ds:uri="b07081d3-acb9-4ad3-96b0-9375459d33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b07081d3-acb9-4ad3-96b0-9375459d330e"/>
    <ds:schemaRef ds:uri="4a3af7d6-2e64-40d4-a45e-c969b7274f0c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5</TotalTime>
  <Words>2038</Words>
  <Application>Microsoft Office PowerPoint</Application>
  <PresentationFormat>Widescreen</PresentationFormat>
  <Paragraphs>304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Courier New</vt:lpstr>
      <vt:lpstr>Segoe UI</vt:lpstr>
      <vt:lpstr>Segoe UI Light</vt:lpstr>
      <vt:lpstr>Times New Roman</vt:lpstr>
      <vt:lpstr>Tw Cen MT</vt:lpstr>
      <vt:lpstr>Office Theme</vt:lpstr>
      <vt:lpstr>Rtos traffic light: prioritizing emergency vehicles and pedestrians</vt:lpstr>
      <vt:lpstr>CONTENTS</vt:lpstr>
      <vt:lpstr>CONCEPT</vt:lpstr>
      <vt:lpstr>Concept- Stakeholders</vt:lpstr>
      <vt:lpstr>Concept- Feasibility Study</vt:lpstr>
      <vt:lpstr>Concept- Literature survey</vt:lpstr>
      <vt:lpstr>Requirements</vt:lpstr>
      <vt:lpstr>Requirements- objective &amp; need</vt:lpstr>
      <vt:lpstr>design</vt:lpstr>
      <vt:lpstr>Design- Use-Case diagram</vt:lpstr>
      <vt:lpstr>Design- Entity relationship diagram</vt:lpstr>
      <vt:lpstr>Testing</vt:lpstr>
      <vt:lpstr>TYPES OF Testing- Functional</vt:lpstr>
      <vt:lpstr>TYPES OF Testing- Non-functional</vt:lpstr>
      <vt:lpstr>Implementation </vt:lpstr>
      <vt:lpstr>Implementation </vt:lpstr>
      <vt:lpstr>Implementation </vt:lpstr>
      <vt:lpstr>Implementation </vt:lpstr>
      <vt:lpstr>Implementation </vt:lpstr>
      <vt:lpstr>Implementation </vt:lpstr>
      <vt:lpstr>Implementation </vt:lpstr>
      <vt:lpstr>Implementation </vt:lpstr>
      <vt:lpstr>Documentation</vt:lpstr>
      <vt:lpstr>References</vt:lpstr>
      <vt:lpstr>References</vt:lpstr>
      <vt:lpstr>References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Valle-Baird, Erika</dc:creator>
  <cp:lastModifiedBy>Valle-Baird, Erika</cp:lastModifiedBy>
  <cp:revision>4</cp:revision>
  <dcterms:created xsi:type="dcterms:W3CDTF">2025-11-12T22:14:40Z</dcterms:created>
  <dcterms:modified xsi:type="dcterms:W3CDTF">2026-04-18T02:29:17Z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0x010100477E04AC43618E45831642DB2B2938AF</vt:lpwstr>
  </property>
</Properties>
</file>